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967b9d72c04d49" /><Relationship Type="http://schemas.openxmlformats.org/officeDocument/2006/relationships/extended-properties" Target="/docProps/app.xml" Id="Ra117225cf2854194" /><Relationship Type="http://schemas.openxmlformats.org/officeDocument/2006/relationships/officeDocument" Target="/ppt/presentation.xml" Id="R10ea305d27494c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49221c90e7484c"/>
  </p:sldMasterIdLst>
  <p:notesMasterIdLst>
    <p:notesMasterId xmlns:r="http://schemas.openxmlformats.org/officeDocument/2006/relationships" r:id="R6e27936cba844481"/>
  </p:notesMasterIdLst>
  <p:sldIdLst>
    <p:sldId xmlns:r="http://schemas.openxmlformats.org/officeDocument/2006/relationships" id="256" r:id="R267bccbd84ee491d"/>
    <p:sldId xmlns:r="http://schemas.openxmlformats.org/officeDocument/2006/relationships" id="257" r:id="Rfb7efa63c5e7484f"/>
    <p:sldId xmlns:r="http://schemas.openxmlformats.org/officeDocument/2006/relationships" id="258" r:id="R9b738ec7609249ed"/>
    <p:sldId xmlns:r="http://schemas.openxmlformats.org/officeDocument/2006/relationships" id="259" r:id="Refabc6e0e315402d"/>
    <p:sldId xmlns:r="http://schemas.openxmlformats.org/officeDocument/2006/relationships" id="260" r:id="R3ccfe106f18e4144"/>
    <p:sldId xmlns:r="http://schemas.openxmlformats.org/officeDocument/2006/relationships" id="261" r:id="R883c85502c3d4716"/>
    <p:sldId xmlns:r="http://schemas.openxmlformats.org/officeDocument/2006/relationships" id="262" r:id="Rd9985eadeaf14e57"/>
    <p:sldId xmlns:r="http://schemas.openxmlformats.org/officeDocument/2006/relationships" id="263" r:id="R9af5126e0e3148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4d5b62fa9f472f" /><Relationship Type="http://schemas.openxmlformats.org/officeDocument/2006/relationships/slideMaster" Target="/ppt/slideMasters/slideMaster1.xml" Id="R1849221c90e7484c" /><Relationship Type="http://schemas.openxmlformats.org/officeDocument/2006/relationships/notesMaster" Target="/ppt/notesMasters/notesMaster1.xml" Id="R6e27936cba844481" /><Relationship Type="http://schemas.openxmlformats.org/officeDocument/2006/relationships/presProps" Target="/ppt/presProps.xml" Id="R8d1a3aa004a94687" /><Relationship Type="http://schemas.openxmlformats.org/officeDocument/2006/relationships/tableStyles" Target="/ppt/tableStyles.xml" Id="R56f286bdb4864e5e" /><Relationship Type="http://schemas.openxmlformats.org/officeDocument/2006/relationships/slide" Target="/ppt/slides/slide1.xml" Id="R267bccbd84ee491d" /><Relationship Type="http://schemas.openxmlformats.org/officeDocument/2006/relationships/slide" Target="/ppt/slides/slide2.xml" Id="Rfb7efa63c5e7484f" /><Relationship Type="http://schemas.openxmlformats.org/officeDocument/2006/relationships/slide" Target="/ppt/slides/slide3.xml" Id="R9b738ec7609249ed" /><Relationship Type="http://schemas.openxmlformats.org/officeDocument/2006/relationships/slide" Target="/ppt/slides/slide4.xml" Id="Refabc6e0e315402d" /><Relationship Type="http://schemas.openxmlformats.org/officeDocument/2006/relationships/slide" Target="/ppt/slides/slide5.xml" Id="R3ccfe106f18e4144" /><Relationship Type="http://schemas.openxmlformats.org/officeDocument/2006/relationships/slide" Target="/ppt/slides/slide6.xml" Id="R883c85502c3d4716" /><Relationship Type="http://schemas.openxmlformats.org/officeDocument/2006/relationships/slide" Target="/ppt/slides/slide7.xml" Id="Rd9985eadeaf14e57" /><Relationship Type="http://schemas.openxmlformats.org/officeDocument/2006/relationships/slide" Target="/ppt/slides/slide8.xml" Id="R9af5126e0e3148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8dbe18d37847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bdc02a6fbe4014" /><Relationship Type="http://schemas.openxmlformats.org/officeDocument/2006/relationships/notesMaster" Target="/ppt/notesMasters/notesMaster1.xml" Id="R74e4c88c0f124e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4ae7aa2b354560" /><Relationship Type="http://schemas.openxmlformats.org/officeDocument/2006/relationships/notesMaster" Target="/ppt/notesMasters/notesMaster1.xml" Id="R52b05feb77534e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ae294e349841d3" /><Relationship Type="http://schemas.openxmlformats.org/officeDocument/2006/relationships/notesMaster" Target="/ppt/notesMasters/notesMaster1.xml" Id="R2f52421578cc44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104026f91a4215" /><Relationship Type="http://schemas.openxmlformats.org/officeDocument/2006/relationships/notesMaster" Target="/ppt/notesMasters/notesMaster1.xml" Id="R1fe7757b63ee4f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587536529b43d6" /><Relationship Type="http://schemas.openxmlformats.org/officeDocument/2006/relationships/notesMaster" Target="/ppt/notesMasters/notesMaster1.xml" Id="Rb5825d6e6bad47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c3ffb643ec423e" /><Relationship Type="http://schemas.openxmlformats.org/officeDocument/2006/relationships/notesMaster" Target="/ppt/notesMasters/notesMaster1.xml" Id="Rf377998c03a24a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23a82254a84580" /><Relationship Type="http://schemas.openxmlformats.org/officeDocument/2006/relationships/notesMaster" Target="/ppt/notesMasters/notesMaster1.xml" Id="Rc307d58dc8c148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b12f3e2ea54145" /><Relationship Type="http://schemas.openxmlformats.org/officeDocument/2006/relationships/notesMaster" Target="/ppt/notesMasters/notesMaster1.xml" Id="Ref06172f35b643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screenshots: IBM.pdf supplied by the project team. IBM Bob development-role description supplied in the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screenshots: pages 2 and 4 of IBM.pdf supplied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screenshots: pages 5 and 6 of IBM.pdf supplied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screenshot: page 1 of IBM.pdf supplied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Bob development activities are based on the project description supplied by the team. The user interface screens show the AI Study Buddy product, not IBM Bob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8c6335e1649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c4310134104fbe" /><Relationship Type="http://schemas.openxmlformats.org/officeDocument/2006/relationships/slideLayout" Target="/ppt/slideLayouts/slideLayout1.xml" Id="R4c32dcb697e74e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32dcb697e74e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106ee3c514c66" /><Relationship Type="http://schemas.openxmlformats.org/officeDocument/2006/relationships/image" Target="/ppt/media/image.png" Id="Ra7ff5adb21d9470b" /><Relationship Type="http://schemas.openxmlformats.org/officeDocument/2006/relationships/notesSlide" Target="/ppt/notesSlides/notesSlide1.xml" Id="R61459ff87b3b43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400a34b0c47c8" /><Relationship Type="http://schemas.openxmlformats.org/officeDocument/2006/relationships/notesSlide" Target="/ppt/notesSlides/notesSlide2.xml" Id="R656288aec9df4d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44a03eef54b45" /><Relationship Type="http://schemas.openxmlformats.org/officeDocument/2006/relationships/notesSlide" Target="/ppt/notesSlides/notesSlide3.xml" Id="R7f68142a98984e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45e20b1fc4f1e" /><Relationship Type="http://schemas.openxmlformats.org/officeDocument/2006/relationships/image" Target="/ppt/media/image2.png" Id="R43b97d3d504741ba" /><Relationship Type="http://schemas.openxmlformats.org/officeDocument/2006/relationships/image" Target="/ppt/media/image3.png" Id="R50c5d2def4a64343" /><Relationship Type="http://schemas.openxmlformats.org/officeDocument/2006/relationships/notesSlide" Target="/ppt/notesSlides/notesSlide4.xml" Id="Rbf66f63b8c4f4b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c8e29a03f4f80" /><Relationship Type="http://schemas.openxmlformats.org/officeDocument/2006/relationships/image" Target="/ppt/media/image4.png" Id="R0d3cc848665748e2" /><Relationship Type="http://schemas.openxmlformats.org/officeDocument/2006/relationships/image" Target="/ppt/media/image5.png" Id="Rd89b617ffac442eb" /><Relationship Type="http://schemas.openxmlformats.org/officeDocument/2006/relationships/notesSlide" Target="/ppt/notesSlides/notesSlide5.xml" Id="R097a83e5a0574b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f8267203645d8" /><Relationship Type="http://schemas.openxmlformats.org/officeDocument/2006/relationships/image" Target="/ppt/media/image6.png" Id="R933faa16e16c4458" /><Relationship Type="http://schemas.openxmlformats.org/officeDocument/2006/relationships/notesSlide" Target="/ppt/notesSlides/notesSlide6.xml" Id="R65b13c12d87144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0c4910768442c" /><Relationship Type="http://schemas.openxmlformats.org/officeDocument/2006/relationships/notesSlide" Target="/ppt/notesSlides/notesSlide7.xml" Id="R9dcdc271b2b04d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56555cc264f88" /><Relationship Type="http://schemas.openxmlformats.org/officeDocument/2006/relationships/notesSlide" Target="/ppt/notesSlides/notesSlide8.xml" Id="R0ff887aca1b446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E62CB-4BC7-4812-936A-675D5DED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02747-0A17-414F-A4B9-11F4B27D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Study Buddy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8C581-58E5-406E-872C-9009BA2E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42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An AI-powered study companion for clearer learning, guided practice, and organised revision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BE8B8-82FC-4E33-A5BD-474BBABB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5C4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C4E8"/>
                </a:solidFill>
                <a:latin typeface="Arial"/>
                <a:ea typeface="Arial"/>
                <a:cs typeface="Arial"/>
              </a:rPr>
              <a:t>Built with development support from IBM Bob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E2591-1E01-4F26-8FA1-8F51186F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42950"/>
            <a:ext cx="4686300" cy="5362575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51D2B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f5adb21d9470b"/>
          <a:stretch xmlns:a="http://schemas.openxmlformats.org/drawingml/2006/main"/>
        </p:blipFill>
        <p:spPr>
          <a:xfrm xmlns:a="http://schemas.openxmlformats.org/drawingml/2006/main">
            <a:off x="7048500" y="2410947"/>
            <a:ext cx="4229100" cy="2007531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569C6-738F-41F6-8946-2F89F66C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IBM workshop project</a:t>
            </a:r>
          </a:p>
        </p:txBody>
      </p:sp>
    </p:spTree>
    <p:extLst>
      <p:ext uri="{BB962C8B-B14F-4D97-AF65-F5344CB8AC3E}">
        <p14:creationId xmlns:p14="http://schemas.microsoft.com/office/powerpoint/2010/main" val="601347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366A5-FCA6-4F9F-8287-08534C2E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15825-3EFD-4796-827B-3A1E0125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5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99A06-4781-4936-B24C-25B6DCB9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Students need more support than static notes can provide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49B14-9058-4E00-9E66-3A88449D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Students often face three connected study challenges: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67072-A1A5-4A69-970A-6D42BB16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3D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3D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7FF41-975D-49FB-9424-DF65BB8D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Understanding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7A3B3-8AA2-42B2-A919-8617E98D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Difficult concepts can remain unclear after reading notes or textbooks.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728E1-0D84-4D89-965D-9EB4691C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433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36907-BE6E-46C0-B632-6E5FAC8B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3D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3D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8FFE3-91A4-4846-A12E-C2558027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83036-08EA-4835-B35A-EA390041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Students need questions and feedback that relate to their own material.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10CBA-46CA-478B-BD0A-03DF0A37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910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0758D-0E66-4EDB-9E67-20B03BEC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3D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3D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13D45-15B1-4D4D-92C3-3B9B1AAA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Revision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CA498-E2EF-4E6A-9899-E0CBA0F4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Preparing a realistic plan and tracking progress can be time-consuming.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9C85A-B417-4165-9C2E-E40FD286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388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D4CD0-24B3-4EEB-8E41-07869F3B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8290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18284-5461-479F-9DF6-C262510E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5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Study materials alone do not adapt to the student.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3323A-0D2E-4610-8ECC-07FE11DB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2781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7"/>
                </a:solidFill>
                <a:latin typeface="Arial"/>
                <a:ea typeface="Arial"/>
                <a:cs typeface="Arial"/>
              </a:rPr>
              <a:t>The project brings explanations, questions, revision support, and history into one study space.</a:t>
            </a:r>
          </a:p>
        </p:txBody>
      </p:sp>
    </p:spTree>
    <p:extLst>
      <p:ext uri="{BB962C8B-B14F-4D97-AF65-F5344CB8AC3E}">
        <p14:creationId xmlns:p14="http://schemas.microsoft.com/office/powerpoint/2010/main" val="1476136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30769-859A-4344-9110-772E4B0B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Solution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53E15-8F4A-4508-AF88-81CB8937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5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45A3B-39DA-493B-BD65-3DB27446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AI Study Buddy turns study material into targeted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A24F1-97A9-416C-9BBA-F6C628D5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19350" cy="251460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0BF8A-9D28-47DE-B420-6F4F5F0B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5C4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C4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038C6-5C0A-4313-A24F-E4F0A05E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a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DB285-EE74-4B53-9AA5-5897D5DC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Converts notes or a topic into a simpler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557FA-4EA9-449C-9E41-7771939A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2419350" cy="251460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52E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2775C-B3E7-4D44-A62F-2D0BDD44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5C4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C4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FB793-5983-4AD7-9DE3-2EDEDAE2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95625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Practice quiz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4BF69-1858-47D0-8637-3FC14364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2905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Generates questions from study material and returns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162E2-3148-4324-96F5-A5585474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419350" cy="251460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2FE68-C14D-424C-9EC7-70C628CA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5C4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C4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C49D2-B811-429D-AF55-CF2B8641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95625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Revision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00868-F6D7-4FC5-BEC3-53B3FB38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Uses the material, topic, and available hours to guide revision.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85076-7D5A-4297-A69E-073D9F32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81250"/>
            <a:ext cx="2419350" cy="251460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F85D9-6B2F-4798-AE57-400483E7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4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5C4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C4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67937-A813-41D4-ADED-7ABC92DC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95625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05FF2-475A-43B6-BE1E-0FA3A7B3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2905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Keeps quiz scores visible so students can check prior attempts.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03C13-6BAE-4363-9D7D-D2F0AD7A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Input: notes, text, or a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CFA0A8-406B-4BB5-AFD0-CF99D548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626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Output: guidance that supports learning and revision</a:t>
            </a:r>
          </a:p>
        </p:txBody>
      </p:sp>
    </p:spTree>
    <p:extLst>
      <p:ext uri="{BB962C8B-B14F-4D97-AF65-F5344CB8AC3E}">
        <p14:creationId xmlns:p14="http://schemas.microsoft.com/office/powerpoint/2010/main" val="893810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C0CCB-71C4-4EDD-9261-FF04A7CC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Explanations and doubt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98355-DBA5-4AE5-BACA-81983E9B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5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D2BFE-F750-45DE-98DD-569F5A34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Students can paste material or ask a focused question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97d3d504741ba"/>
          <a:stretch xmlns:a="http://schemas.openxmlformats.org/drawingml/2006/main"/>
        </p:blipFill>
        <p:spPr>
          <a:xfrm xmlns:a="http://schemas.openxmlformats.org/drawingml/2006/main">
            <a:off x="685800" y="2254865"/>
            <a:ext cx="5067300" cy="240542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5d2def4a64343"/>
          <a:stretch xmlns:a="http://schemas.openxmlformats.org/drawingml/2006/main"/>
        </p:blipFill>
        <p:spPr>
          <a:xfrm xmlns:a="http://schemas.openxmlformats.org/drawingml/2006/main">
            <a:off x="6438900" y="2232756"/>
            <a:ext cx="5067300" cy="2449637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6DC33-B652-4126-A739-24D9F83B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Explain a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0A64F-06C6-413F-8B05-A84A90C0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The student enters notes or a topic and requests a simple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2D698-B233-4C92-ADFC-7CCABB2C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3875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Ask a Doubt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B2452-6B2F-432B-9374-955DE3DF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245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The student adds context if needed, then asks a question about the material.</a:t>
            </a:r>
          </a:p>
        </p:txBody>
      </p:sp>
    </p:spTree>
    <p:extLst>
      <p:ext uri="{BB962C8B-B14F-4D97-AF65-F5344CB8AC3E}">
        <p14:creationId xmlns:p14="http://schemas.microsoft.com/office/powerpoint/2010/main" val="4090644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0E691-6856-4867-A71A-D1D7B4C6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Practice and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FC8CD-73C3-4539-900C-1F8E80DE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5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FAA8D-3F03-4992-8704-70B99272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Quizzes create active practice while history keeps results visible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cc848665748e2"/>
          <a:stretch xmlns:a="http://schemas.openxmlformats.org/drawingml/2006/main"/>
        </p:blipFill>
        <p:spPr>
          <a:xfrm xmlns:a="http://schemas.openxmlformats.org/drawingml/2006/main">
            <a:off x="685800" y="2264016"/>
            <a:ext cx="6667500" cy="3234843"/>
          </a:xfrm>
          <a:prstGeom xmlns:a="http://schemas.openxmlformats.org/drawingml/2006/main" prst="roundRect">
            <a:avLst>
              <a:gd name="adj" fmla="val 303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03255-5D37-4614-8EF7-FD145AF6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486150" cy="3762375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151D2B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b617ffac442eb"/>
          <a:stretch xmlns:a="http://schemas.openxmlformats.org/drawingml/2006/main"/>
        </p:blipFill>
        <p:spPr>
          <a:xfrm xmlns:a="http://schemas.openxmlformats.org/drawingml/2006/main">
            <a:off x="8210550" y="2636247"/>
            <a:ext cx="3105150" cy="1490255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397BE-BF0C-4A00-B31F-A223DF64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5775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Practice Quiz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0997E-E1ED-4B03-8810-26D3EF20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816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01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The quiz screen accepts study material and lets the learner choose the number of questions.</a:t>
            </a:r>
          </a:p>
        </p:txBody>
      </p:sp>
    </p:spTree>
    <p:extLst>
      <p:ext uri="{BB962C8B-B14F-4D97-AF65-F5344CB8AC3E}">
        <p14:creationId xmlns:p14="http://schemas.microsoft.com/office/powerpoint/2010/main" val="4237932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00C8E-3FB8-46DD-8833-03BC4D97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Personal revision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9CCC3-D374-473F-8F3E-C8A7BCD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5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34958-9967-4165-AF30-433EEF3A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The plan begins with the material, a topic name, and available study time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faa16e16c4458"/>
          <a:stretch xmlns:a="http://schemas.openxmlformats.org/drawingml/2006/main"/>
        </p:blipFill>
        <p:spPr>
          <a:xfrm xmlns:a="http://schemas.openxmlformats.org/drawingml/2006/main">
            <a:off x="685800" y="2188843"/>
            <a:ext cx="7105650" cy="339471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98C54-6CE5-448B-A31C-D35FCB14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336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Revision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D5FF2-0AD2-404E-A954-D864BE81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3D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3D5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7FE68-ADD4-4C59-AFA9-1B67891F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19400"/>
            <a:ext cx="2266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Paste the material to give the tool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9F08D-BD02-4A89-918A-F204E22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957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3D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3D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05855-C44C-433D-AEF7-CD8DF03B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2266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Name the topic so the plan is easy to save and find.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E4390-3CFD-4494-95ED-D3D6AAA3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720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3D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3D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FEBFE-14AE-46BE-A174-0B3C831F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72000"/>
            <a:ext cx="2266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Set the study hours available before generating the plan.</a:t>
            </a:r>
          </a:p>
        </p:txBody>
      </p:sp>
    </p:spTree>
    <p:extLst>
      <p:ext uri="{BB962C8B-B14F-4D97-AF65-F5344CB8AC3E}">
        <p14:creationId xmlns:p14="http://schemas.microsoft.com/office/powerpoint/2010/main" val="8078078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D6F224-CFF2-4C50-831A-786EFFE8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IBM Bob in the development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1956F-E23F-4188-A570-BEC0307B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5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9CED9-F5C9-41AA-BD6A-17731F3C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IBM Bob supported the team while they built and improved the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BDF65-671A-4412-B446-10992A3C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5C4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C4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E516B-A120-480B-BC68-736E99AE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213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9B0FB-FE8B-4A29-AEC2-5FE8B777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D6F78-2028-4F97-9DEC-F139EBD1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17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Refined the idea into features and a user journey.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8CC0A-F888-4A0A-8293-6C5C78C0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5C4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C4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9960C-F8EE-4E6C-B2CB-AC4D471D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24175"/>
            <a:ext cx="213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8AD21-4055-41E7-A055-1DD9C83C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099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D7084-F144-4226-AF11-D7E6BF40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17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Assisted with generating, explaining, and improving application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830C7-E0D2-4A99-8466-CD83BE07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5C4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C4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1C47D-A540-47D3-82FF-DE53938C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24175"/>
            <a:ext cx="213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9AF42-5350-4FA3-B60F-3B323E87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99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Troubleshooting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382E1-F8C7-43EB-94ED-67E6FD47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17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Helped break down issues and review possible fixes.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D002C-42FD-452A-871A-9F625EFD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5C4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C4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382D2-6131-4986-BBC4-52B2023C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24175"/>
            <a:ext cx="213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5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23A6D-7DEF-49D8-B4CB-F4240349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099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0A3DE-CD58-4E25-9C83-FC5F991D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17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4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4D9"/>
                </a:solidFill>
                <a:latin typeface="Arial"/>
                <a:ea typeface="Arial"/>
                <a:cs typeface="Arial"/>
              </a:rPr>
              <a:t>Supported checks of application logic and usability.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A00455-ECD6-4EAD-8D3F-77651B46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IBM Bob helped reduce repetitive development work so the team could focus on a useful student experience.</a:t>
            </a:r>
          </a:p>
        </p:txBody>
      </p:sp>
    </p:spTree>
    <p:extLst>
      <p:ext uri="{BB962C8B-B14F-4D97-AF65-F5344CB8AC3E}">
        <p14:creationId xmlns:p14="http://schemas.microsoft.com/office/powerpoint/2010/main" val="662904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A85EE-AB46-4F5F-99CC-C1180F1D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Project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01805-8FED-484D-B6C6-A5234E92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5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F5B83-1939-48A9-A3D5-B341C187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A single study space for explaining, practising, planning, and reviewing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3335B-53FA-4563-8645-7D9374F6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AI Study Buddy combines the steps students usually complete across separate resources.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CD525-7282-4409-A6DE-E00E018A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F7C9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F7C91"/>
                </a:solidFill>
                <a:latin typeface="Arial"/>
                <a:ea typeface="Arial"/>
                <a:cs typeface="Arial"/>
              </a:rPr>
              <a:t>The working interface provides places to explain a topic, take a practice quiz, build a revision plan, ask a doubt, and review quiz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076FC-950C-4B74-8128-EFD818E0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3714750" cy="35623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85D97-A0EA-4DAE-AE2F-3968D271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Expected benefit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C583C-5BAA-4087-9F56-0064214E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2686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51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7"/>
                </a:solidFill>
                <a:latin typeface="Arial"/>
                <a:ea typeface="Arial"/>
                <a:cs typeface="Arial"/>
              </a:rPr>
              <a:t>Students can spend less time organising study tasks and more time understanding and practising their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05FDA-C9FB-4E10-8A8A-8E23F69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3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3D57"/>
                </a:solidFill>
                <a:latin typeface="Arial"/>
                <a:ea typeface="Arial"/>
                <a:cs typeface="Arial"/>
              </a:rPr>
              <a:t>AI Study Buddy</a:t>
            </a:r>
          </a:p>
        </p:txBody>
      </p:sp>
    </p:spTree>
    <p:extLst>
      <p:ext uri="{BB962C8B-B14F-4D97-AF65-F5344CB8AC3E}">
        <p14:creationId xmlns:p14="http://schemas.microsoft.com/office/powerpoint/2010/main" val="812272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2026-09-19T02:32:26.1300000Z</dcterms:created>
  <dcterms:modified xsi:type="dcterms:W3CDTF">2026-09-19T02:32:26.1300000Z</dcterms:modified>
</coreProperties>
</file>